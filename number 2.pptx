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64" r:id="rId4"/>
    <p:sldId id="265" r:id="rId5"/>
    <p:sldId id="266" r:id="rId6"/>
    <p:sldId id="259" r:id="rId7"/>
    <p:sldId id="267" r:id="rId8"/>
    <p:sldId id="260" r:id="rId9"/>
    <p:sldId id="261" r:id="rId10"/>
    <p:sldId id="262" r:id="rId11"/>
    <p:sldId id="263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 showGuides="1">
      <p:cViewPr varScale="1">
        <p:scale>
          <a:sx n="59" d="100"/>
          <a:sy n="59" d="100"/>
        </p:scale>
        <p:origin x="964" y="5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8830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6500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7580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616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22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651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5125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50664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812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567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8085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3800011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7248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447050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2090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588109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42731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5C31DF6C-DAF3-4CA3-90F8-FD1F9CC11910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84F8725B-69C8-45B2-9BD4-1078B84EE1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63679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7ABC90-C1E2-62E1-4FB4-634BC57E8C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8943" y="445181"/>
            <a:ext cx="9144000" cy="1318305"/>
          </a:xfrm>
        </p:spPr>
        <p:txBody>
          <a:bodyPr>
            <a:normAutofit fontScale="90000"/>
          </a:bodyPr>
          <a:lstStyle/>
          <a:p>
            <a:r>
              <a:rPr lang="en-US" sz="3600" b="1" dirty="0"/>
              <a:t>PART A: Data Preparation </a:t>
            </a:r>
            <a:br>
              <a:rPr lang="en-US" sz="3600" b="1" dirty="0"/>
            </a:br>
            <a:r>
              <a:rPr lang="en-US" sz="3600" b="1" dirty="0"/>
              <a:t>Data Overview and Cleaning</a:t>
            </a:r>
            <a:br>
              <a:rPr lang="en-US" sz="3600" b="1" dirty="0"/>
            </a:br>
            <a:endParaRPr lang="en-US" sz="36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2E60A11-30BE-D599-5A3A-2957653829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100943"/>
            <a:ext cx="9144000" cy="4311876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Loaded my dataset and generated  summary statistics for all numerical features. 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Excluded non-numeric columns like ID and date are from analysis since they don’t contribute to prediction. 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Identified missing values and duplicate records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 Duplicates are removed and missing values were filled using the median of each feature. </a:t>
            </a:r>
          </a:p>
          <a:p>
            <a:pPr algn="l"/>
            <a:r>
              <a:rPr lang="en-US" b="1" dirty="0"/>
              <a:t>Purpose</a:t>
            </a:r>
          </a:p>
          <a:p>
            <a:pPr marL="342900" indent="-342900" algn="l">
              <a:buFont typeface="Wingdings" panose="05000000000000000000" pitchFamily="2" charset="2"/>
              <a:buChar char="Ø"/>
            </a:pPr>
            <a:r>
              <a:rPr lang="en-US" dirty="0"/>
              <a:t>To ensure the dataset is clean, consistent, and statistically meaningful before modeling.</a:t>
            </a:r>
          </a:p>
          <a:p>
            <a:pPr algn="l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7631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85917A-8CEA-C439-786A-A58A7E067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Scaling, Splitting </a:t>
            </a:r>
            <a:r>
              <a:rPr lang="en-US" b="1" dirty="0" err="1"/>
              <a:t>andTarget</a:t>
            </a:r>
            <a:r>
              <a:rPr lang="en-US" b="1" dirty="0"/>
              <a:t> Distribution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0E1FCD-0C51-FB21-EADB-5645024518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Key numerical features like bedrooms and bathrooms are scaled using standardization.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Split my  dataset into 80% training and 20% testing. </a:t>
            </a:r>
          </a:p>
          <a:p>
            <a:pPr>
              <a:buFont typeface="Wingdings" panose="05000000000000000000" pitchFamily="2" charset="2"/>
              <a:buChar char="ü"/>
            </a:pPr>
            <a:r>
              <a:rPr lang="en-US" dirty="0"/>
              <a:t>Distribution of the target variable (price) is visualized.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Insights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House prices are typically right-skewed (very few expensive houses). </a:t>
            </a:r>
          </a:p>
          <a:p>
            <a:pPr marL="0" indent="0">
              <a:buNone/>
            </a:pPr>
            <a:r>
              <a:rPr lang="en-US" b="1" dirty="0"/>
              <a:t>Purpose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Scaling ensures features contribute equally in regression.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Splitting allows fair model evaluation.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Understanding target distribution helps detect bias and skewness.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99072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B2B28-71C6-D47C-55C0-5D00EC9F11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Distribution of the target variable(price)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AA97DC74-4FAB-6A7E-84D4-238B1598D68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97972" y="2148722"/>
            <a:ext cx="6716485" cy="44319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Shape: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The distribution has been transformed from Right-Skewed to Normal (Bell-Shaped). This creates a symmetrical distribution that is much better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for model accuracy.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Central Tendency: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The Mean, Median, and Mode are now closely aligned around the center (log-value of 13), indicating that extreme price outliers have been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successfully normalized.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Data Density: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Concentration is highest at the center of the bell curve. The thin long tail has been compressed, reducing the mathematical noise that previously confused the model.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E8C070-72C9-A27E-BEA2-B8E449B799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04313" y="1489848"/>
            <a:ext cx="4789715" cy="227661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763BB99-F195-2321-210D-B79D469199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4312" y="4082086"/>
            <a:ext cx="4789715" cy="2276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52635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4C3B34-C34B-0253-7A1A-79D46E378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en-US" sz="3600" b="1" dirty="0"/>
              <a:t>PART B: Exploratory Data Analysis</a:t>
            </a:r>
            <a:br>
              <a:rPr lang="en-US" sz="3600" b="1" dirty="0"/>
            </a:br>
            <a:r>
              <a:rPr lang="en-US" sz="3600" b="1" dirty="0"/>
              <a:t>Relationships and Correlation</a:t>
            </a:r>
            <a:endParaRPr lang="en-US" sz="36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9FEA887-1A23-F68C-9028-5744B9B0019D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92724" y="2089604"/>
            <a:ext cx="6752362" cy="4119172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0" tIns="0" rIns="0" bIns="0" numCol="1" anchor="t" anchorCtr="0" compatLnSpc="1">
            <a:prstTxWarp prst="textNoShape">
              <a:avLst/>
            </a:prstTxWarp>
            <a:normAutofit fontScale="85000" lnSpcReduction="10000"/>
          </a:bodyPr>
          <a:lstStyle/>
          <a:p>
            <a:pPr marL="0" lvl="0" indent="0" eaLnBrk="0" fontAlgn="base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3300" b="1" dirty="0"/>
              <a:t>Scatter plots</a:t>
            </a:r>
            <a:endParaRPr kumimoji="0" lang="en-US" altLang="en-US" sz="3300" b="1" i="0" u="none" strike="noStrike" cap="none" normalizeH="0" baseline="0" dirty="0">
              <a:ln>
                <a:noFill/>
              </a:ln>
              <a:effectLst/>
              <a:latin typeface="Aptos Narrow" panose="020B0004020202020204" pitchFamily="34" charset="0"/>
            </a:endParaRP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Positive Correlation: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 Both plots show that as the independent variable  increases, the dependent variable also increases.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At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low end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, the data is tight and follows a straight line closely.</a:t>
            </a:r>
          </a:p>
          <a:p>
            <a:pPr marR="0" lvl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At the </a:t>
            </a:r>
            <a:r>
              <a:rPr kumimoji="0" lang="en-US" altLang="en-US" sz="2400" b="1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high end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Aptos Narrow" panose="020B0004020202020204" pitchFamily="34" charset="0"/>
              </a:rPr>
              <a:t>, the data spreads out widely meaning the linear model becomes less certain or less accurate for expensive homes.</a:t>
            </a:r>
          </a:p>
          <a:p>
            <a:pPr marR="0" lvl="0" defTabSz="914400" rtl="0" eaLnBrk="0" fontAlgn="base" latinLnBrk="0" hangingPunct="0">
              <a:spcBef>
                <a:spcPct val="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Aptos Narrow" panose="020B00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CE3E5E-6A1B-7477-17BD-34AEEEF13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600" y="2179549"/>
            <a:ext cx="5562600" cy="4198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06090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CCDA184-6B22-FFFD-4E22-78946DD52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Correlation matrix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D23B892-0156-DC8B-FDFE-30D15B8D0E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The heatmap reveals that </a:t>
            </a:r>
            <a:r>
              <a:rPr lang="en-US" sz="2400" b="1" dirty="0" err="1">
                <a:latin typeface="Aptos Narrow" panose="020B0004020202020204" pitchFamily="34" charset="0"/>
              </a:rPr>
              <a:t>sqft_living</a:t>
            </a:r>
            <a:r>
              <a:rPr lang="en-US" sz="2400" b="1" dirty="0">
                <a:latin typeface="Aptos Narrow" panose="020B0004020202020204" pitchFamily="34" charset="0"/>
              </a:rPr>
              <a:t>, grade, </a:t>
            </a:r>
            <a:r>
              <a:rPr lang="en-US" sz="2400" dirty="0">
                <a:latin typeface="Aptos Narrow" panose="020B0004020202020204" pitchFamily="34" charset="0"/>
              </a:rPr>
              <a:t>and</a:t>
            </a:r>
            <a:r>
              <a:rPr lang="en-US" sz="2400" b="1" dirty="0">
                <a:latin typeface="Aptos Narrow" panose="020B0004020202020204" pitchFamily="34" charset="0"/>
              </a:rPr>
              <a:t> </a:t>
            </a:r>
            <a:r>
              <a:rPr lang="en-US" sz="2400" b="1" dirty="0" err="1">
                <a:latin typeface="Aptos Narrow" panose="020B0004020202020204" pitchFamily="34" charset="0"/>
              </a:rPr>
              <a:t>sqft_above</a:t>
            </a:r>
            <a:r>
              <a:rPr lang="en-US" sz="2400" b="1" dirty="0">
                <a:latin typeface="Aptos Narrow" panose="020B0004020202020204" pitchFamily="34" charset="0"/>
              </a:rPr>
              <a:t> </a:t>
            </a:r>
            <a:r>
              <a:rPr lang="en-US" sz="2400" dirty="0">
                <a:latin typeface="Aptos Narrow" panose="020B0004020202020204" pitchFamily="34" charset="0"/>
              </a:rPr>
              <a:t>are the most influential factors in determining house prices. These features show the strongest positive correlation, meaning as these values increase, the house price significantly </a:t>
            </a:r>
            <a:r>
              <a:rPr lang="en-US" sz="2400" dirty="0" err="1">
                <a:latin typeface="Aptos Narrow" panose="020B0004020202020204" pitchFamily="34" charset="0"/>
              </a:rPr>
              <a:t>increaases</a:t>
            </a:r>
            <a:r>
              <a:rPr lang="en-US" sz="2400" dirty="0">
                <a:latin typeface="Aptos Narrow" panose="020B0004020202020204" pitchFamily="34" charset="0"/>
              </a:rPr>
              <a:t>.</a:t>
            </a:r>
          </a:p>
        </p:txBody>
      </p:sp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C0A9816C-141F-1EE0-26EB-2E2B18EDACB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/>
          <a:stretch>
            <a:fillRect/>
          </a:stretch>
        </p:blipFill>
        <p:spPr>
          <a:xfrm>
            <a:off x="6324600" y="2008767"/>
            <a:ext cx="5388428" cy="4484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9684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AD61F6-FABA-9C20-B750-3BDB90D5E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/>
              <a:t>Feature Importance and Outliers</a:t>
            </a:r>
            <a:br>
              <a:rPr lang="en-US" b="1"/>
            </a:b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8F3E9C47-90BF-E16E-EC1D-AC37950BD6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422571" cy="4667250"/>
          </a:xfrm>
        </p:spPr>
        <p:txBody>
          <a:bodyPr/>
          <a:lstStyle/>
          <a:p>
            <a:r>
              <a:rPr lang="en-US" b="1" dirty="0"/>
              <a:t>Impact of Outliers:</a:t>
            </a:r>
            <a:endParaRPr lang="en-US" dirty="0"/>
          </a:p>
          <a:p>
            <a:r>
              <a:rPr lang="en-US" dirty="0"/>
              <a:t>Can distort regression models </a:t>
            </a:r>
          </a:p>
          <a:p>
            <a:r>
              <a:rPr lang="en-US" dirty="0"/>
              <a:t>Lead to poor predictions for normal houses </a:t>
            </a:r>
          </a:p>
          <a:p>
            <a:pPr marL="0" indent="0">
              <a:buNone/>
            </a:pPr>
            <a:r>
              <a:rPr lang="en-US" dirty="0"/>
              <a:t> </a:t>
            </a:r>
            <a:r>
              <a:rPr lang="en-US" b="1" dirty="0"/>
              <a:t>Purpose:</a:t>
            </a:r>
            <a:br>
              <a:rPr lang="en-US" dirty="0"/>
            </a:br>
            <a:r>
              <a:rPr lang="en-US" dirty="0"/>
              <a:t>To guide feature selection and highlight potential data issues.</a:t>
            </a:r>
          </a:p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4A2276-BA82-8DF0-40F9-A02316E1B5F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9514" y="1426029"/>
            <a:ext cx="5192486" cy="531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074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07787A-CA97-8E3E-28CC-B8210F6D4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Guiding model decisions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FC6CC7-0EEF-DAF1-0703-F35EDB63B6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Data Cleaning (Outlier Removal)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problem:</a:t>
            </a:r>
            <a:r>
              <a:rPr lang="en-US" sz="2400" dirty="0">
                <a:latin typeface="Aptos Narrow" panose="020B0004020202020204" pitchFamily="34" charset="0"/>
              </a:rPr>
              <a:t> Because the extreme outliers are rare, they will strongly pull the model’s best fit line upward, causing it to over-predict the price of average homes.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Action:</a:t>
            </a:r>
            <a:r>
              <a:rPr lang="en-US" sz="2400" dirty="0">
                <a:latin typeface="Aptos Narrow" panose="020B0004020202020204" pitchFamily="34" charset="0"/>
              </a:rPr>
              <a:t> We should filter the dataset to remove extreme outliers to improve the model's accuracy for the 95% majority of the market.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Feature Selection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problem:</a:t>
            </a:r>
            <a:r>
              <a:rPr lang="en-US" sz="2400" dirty="0">
                <a:latin typeface="Aptos Narrow" panose="020B0004020202020204" pitchFamily="34" charset="0"/>
              </a:rPr>
              <a:t> Since </a:t>
            </a:r>
            <a:r>
              <a:rPr lang="en-US" sz="2400" dirty="0" err="1">
                <a:latin typeface="Aptos Narrow" panose="020B0004020202020204" pitchFamily="34" charset="0"/>
              </a:rPr>
              <a:t>sqft_living</a:t>
            </a:r>
            <a:r>
              <a:rPr lang="en-US" sz="2400" dirty="0">
                <a:latin typeface="Aptos Narrow" panose="020B0004020202020204" pitchFamily="34" charset="0"/>
              </a:rPr>
              <a:t> and </a:t>
            </a:r>
            <a:r>
              <a:rPr lang="en-US" sz="2400" dirty="0" err="1">
                <a:latin typeface="Aptos Narrow" panose="020B0004020202020204" pitchFamily="34" charset="0"/>
              </a:rPr>
              <a:t>sqft_above</a:t>
            </a:r>
            <a:r>
              <a:rPr lang="en-US" sz="2400" dirty="0">
                <a:latin typeface="Aptos Narrow" panose="020B0004020202020204" pitchFamily="34" charset="0"/>
              </a:rPr>
              <a:t> are so similar, keeping both can make the model unstable and hard to interpret.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b="1" dirty="0">
                <a:latin typeface="Aptos Narrow" panose="020B0004020202020204" pitchFamily="34" charset="0"/>
              </a:rPr>
              <a:t>Action:</a:t>
            </a:r>
            <a:r>
              <a:rPr lang="en-US" sz="2400" dirty="0">
                <a:latin typeface="Aptos Narrow" panose="020B0004020202020204" pitchFamily="34" charset="0"/>
              </a:rPr>
              <a:t> We will drop redundant features and prioritize the one with the highest correlation to price (</a:t>
            </a:r>
            <a:r>
              <a:rPr lang="en-US" sz="2400" dirty="0" err="1">
                <a:latin typeface="Aptos Narrow" panose="020B0004020202020204" pitchFamily="34" charset="0"/>
              </a:rPr>
              <a:t>sqft_living</a:t>
            </a:r>
            <a:r>
              <a:rPr lang="en-US" sz="2400" dirty="0">
                <a:latin typeface="Aptos Narrow" panose="020B0004020202020204" pitchFamily="34" charset="0"/>
              </a:rPr>
              <a:t>).</a:t>
            </a:r>
          </a:p>
          <a:p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24171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9D3F4-4141-E778-690F-B8F88ADC7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>
                <a:latin typeface="Aptos Narrow" panose="020B0004020202020204" pitchFamily="34" charset="0"/>
              </a:rPr>
              <a:t>PART C: Model Training </a:t>
            </a:r>
            <a:br>
              <a:rPr lang="en-US" b="1" dirty="0">
                <a:latin typeface="Aptos Narrow" panose="020B0004020202020204" pitchFamily="34" charset="0"/>
              </a:rPr>
            </a:br>
            <a:r>
              <a:rPr lang="en-US" b="1" dirty="0" err="1">
                <a:latin typeface="Aptos Narrow" panose="020B0004020202020204" pitchFamily="34" charset="0"/>
              </a:rPr>
              <a:t>Training</a:t>
            </a:r>
            <a:r>
              <a:rPr lang="en-US" b="1" dirty="0">
                <a:latin typeface="Aptos Narrow" panose="020B0004020202020204" pitchFamily="34" charset="0"/>
              </a:rPr>
              <a:t> Models</a:t>
            </a:r>
            <a:br>
              <a:rPr lang="en-US" b="1" dirty="0">
                <a:latin typeface="Aptos Narrow" panose="020B0004020202020204" pitchFamily="34" charset="0"/>
              </a:rPr>
            </a:br>
            <a:endParaRPr lang="en-US" dirty="0">
              <a:latin typeface="Aptos Narrow" panose="020B0004020202020204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BEEFA-BC24-FA12-6827-3374AEDFD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indent="0">
              <a:lnSpc>
                <a:spcPct val="250000"/>
              </a:lnSpc>
              <a:buNone/>
            </a:pPr>
            <a:r>
              <a:rPr lang="en-US" sz="2400" dirty="0">
                <a:latin typeface="Aptos Narrow" panose="020B0004020202020204" pitchFamily="34" charset="0"/>
              </a:rPr>
              <a:t>Trained two models: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Aptos Narrow" panose="020B0004020202020204" pitchFamily="34" charset="0"/>
              </a:rPr>
              <a:t>Linear Regression</a:t>
            </a:r>
            <a:r>
              <a:rPr lang="en-US" dirty="0">
                <a:latin typeface="Aptos Narrow" panose="020B0004020202020204" pitchFamily="34" charset="0"/>
              </a:rPr>
              <a:t> (simple and  assumes linear relationship) </a:t>
            </a:r>
          </a:p>
          <a:p>
            <a:pPr lvl="1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latin typeface="Aptos Narrow" panose="020B0004020202020204" pitchFamily="34" charset="0"/>
              </a:rPr>
              <a:t>Decision Tree Regressor</a:t>
            </a:r>
            <a:r>
              <a:rPr lang="en-US" dirty="0">
                <a:latin typeface="Aptos Narrow" panose="020B0004020202020204" pitchFamily="34" charset="0"/>
              </a:rPr>
              <a:t> (captures complex patterns) </a:t>
            </a:r>
          </a:p>
          <a:p>
            <a:pPr marL="0" indent="0">
              <a:lnSpc>
                <a:spcPct val="250000"/>
              </a:lnSpc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</a:p>
          <a:p>
            <a:pPr indent="-342900">
              <a:lnSpc>
                <a:spcPct val="250000"/>
              </a:lnSpc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To compare simple vs complex models for price prediction.</a:t>
            </a:r>
          </a:p>
          <a:p>
            <a:pPr>
              <a:lnSpc>
                <a:spcPct val="250000"/>
              </a:lnSpc>
            </a:pPr>
            <a:endParaRPr lang="en-US" sz="2400" dirty="0"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27311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5B779-E6E6-A55A-B5D2-8CA2A39D56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Model Comparison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D309B3-4BD8-41AC-AB88-235628882B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Purpose:</a:t>
            </a:r>
            <a:br>
              <a:rPr lang="en-US" dirty="0"/>
            </a:br>
            <a:r>
              <a:rPr lang="en-US" dirty="0"/>
              <a:t>To evaluate accuracy, efficiency, and model behavior.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50887A-04E0-8CDB-40DC-8A034F0729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25625"/>
            <a:ext cx="7315199" cy="3071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31040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AEE7C-059E-5514-D666-6956FF73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b="1" dirty="0"/>
            </a:br>
            <a:r>
              <a:rPr lang="en-US" b="1" dirty="0"/>
              <a:t>PART D: Evaluation and Error Analysis </a:t>
            </a:r>
            <a:br>
              <a:rPr lang="en-US" b="1" dirty="0"/>
            </a:br>
            <a:r>
              <a:rPr lang="en-US" b="1" dirty="0"/>
              <a:t>Performance Metrics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04562C-8801-A402-6583-0877BBD49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None/>
            </a:pPr>
            <a:endParaRPr lang="en-US" b="1" dirty="0"/>
          </a:p>
          <a:p>
            <a:pPr>
              <a:buNone/>
            </a:pPr>
            <a:endParaRPr lang="en-US" b="1" dirty="0"/>
          </a:p>
          <a:p>
            <a:pPr>
              <a:buNone/>
            </a:pPr>
            <a:r>
              <a:rPr lang="en-US" b="1" dirty="0"/>
              <a:t>Insights:</a:t>
            </a:r>
            <a:endParaRPr lang="en-US" dirty="0"/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Lower MAE/MSE = better predictions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Higher R² = better model fit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dirty="0"/>
              <a:t>Decision Tree often performs better but risks overfitting </a:t>
            </a:r>
          </a:p>
          <a:p>
            <a:pPr>
              <a:buNone/>
            </a:pPr>
            <a:r>
              <a:rPr lang="en-US" b="1" dirty="0"/>
              <a:t>Purpose:</a:t>
            </a:r>
            <a:br>
              <a:rPr lang="en-US" dirty="0"/>
            </a:br>
            <a:r>
              <a:rPr lang="en-US" dirty="0"/>
              <a:t>To quantitatively compare model performance.</a:t>
            </a:r>
          </a:p>
          <a:p>
            <a:endParaRPr lang="en-US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D8B1A22-DEBA-21E4-530E-F590B52E36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5620" y="1580050"/>
            <a:ext cx="7698779" cy="1481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8209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7679F0-6B3C-7CE7-04A4-316CB06AE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Residuals and  Errors </a:t>
            </a:r>
            <a:br>
              <a:rPr lang="en-US" b="1" dirty="0"/>
            </a:br>
            <a:endParaRPr lang="en-US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D16DECD-7512-9640-EB4B-48A56542579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690688"/>
            <a:ext cx="860829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09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BB21B6E7-5EB8-AF78-80F3-7BC1158AE5A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253824" y="651364"/>
            <a:ext cx="10947576" cy="595958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The Red Line: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This represents </a:t>
            </a:r>
            <a:r>
              <a:rPr kumimoji="0" lang="en-US" altLang="en-US" sz="24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a Perfect Prediction. The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closer the dots </a:t>
            </a:r>
            <a:r>
              <a:rPr lang="en-US" altLang="en-US" sz="2400" dirty="0">
                <a:latin typeface="Aptos Narrow" panose="020B0004020202020204" pitchFamily="34" charset="0"/>
              </a:rPr>
              <a:t>are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to this line, the lower our error.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Linear Regression (Blue):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Shows a consistent cloud around the line. However, the vertical spread at the high end (15.0) indicating that the model starts to struggle with very high-value properties even after log-transformation.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n-US" altLang="en-US" sz="2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Decision Tree (Green):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 The dots are noticeably tighter to the red line in the middle range. This is  typical for Decision Trees</a:t>
            </a:r>
            <a:r>
              <a:rPr lang="en-US" altLang="en-US" sz="2400" dirty="0">
                <a:latin typeface="Aptos Narrow" panose="020B0004020202020204" pitchFamily="34" charset="0"/>
              </a:rPr>
              <a:t> as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ptos Narrow" panose="020B0004020202020204" pitchFamily="34" charset="0"/>
              </a:rPr>
              <a:t>it shows the model grouping houses into specific based on features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Error Patterns:</a:t>
            </a:r>
            <a:endParaRPr lang="en-US" sz="2400" dirty="0">
              <a:latin typeface="Aptos Narrow" panose="020B0004020202020204" pitchFamily="34" charset="0"/>
            </a:endParaRP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Expensive houses tend to be underestimated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Outliers cause large prediction errors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2400" dirty="0">
                <a:latin typeface="Aptos Narrow" panose="020B0004020202020204" pitchFamily="34" charset="0"/>
              </a:rPr>
              <a:t>Cross-validation is used to test model stability: </a:t>
            </a:r>
          </a:p>
          <a:p>
            <a:pPr marL="0" indent="0">
              <a:buNone/>
            </a:pPr>
            <a:r>
              <a:rPr lang="en-US" sz="2400" b="1" dirty="0">
                <a:latin typeface="Aptos Narrow" panose="020B0004020202020204" pitchFamily="34" charset="0"/>
              </a:rPr>
              <a:t>Purpose:</a:t>
            </a:r>
            <a:br>
              <a:rPr lang="en-US" sz="2400" dirty="0">
                <a:latin typeface="Aptos Narrow" panose="020B0004020202020204" pitchFamily="34" charset="0"/>
              </a:rPr>
            </a:br>
            <a:r>
              <a:rPr lang="en-US" sz="2400" dirty="0">
                <a:latin typeface="Aptos Narrow" panose="020B0004020202020204" pitchFamily="34" charset="0"/>
              </a:rPr>
              <a:t>To understand model weaknesses and improve reliability.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ptos Narrow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454516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247</TotalTime>
  <Words>760</Words>
  <Application>Microsoft Office PowerPoint</Application>
  <PresentationFormat>Widescreen</PresentationFormat>
  <Paragraphs>72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Aptos Narrow</vt:lpstr>
      <vt:lpstr>Calisto MT</vt:lpstr>
      <vt:lpstr>Wingdings</vt:lpstr>
      <vt:lpstr>Wingdings 2</vt:lpstr>
      <vt:lpstr>Slate</vt:lpstr>
      <vt:lpstr>PART A: Data Preparation  Data Overview and Cleaning </vt:lpstr>
      <vt:lpstr>Scaling, Splitting andTarget Distribution </vt:lpstr>
      <vt:lpstr>Distribution of the target variable(price)</vt:lpstr>
      <vt:lpstr>PART B: Exploratory Data Analysis Relationships and Correlation</vt:lpstr>
      <vt:lpstr>Correlation matrix</vt:lpstr>
      <vt:lpstr>Feature Importance and Outliers </vt:lpstr>
      <vt:lpstr>Guiding model decisions</vt:lpstr>
      <vt:lpstr> PART C: Model Training  Training Models </vt:lpstr>
      <vt:lpstr>Model Comparison </vt:lpstr>
      <vt:lpstr> PART D: Evaluation and Error Analysis  Performance Metrics </vt:lpstr>
      <vt:lpstr>Residuals and  Errors 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Prince Ronald</dc:creator>
  <cp:lastModifiedBy>Prince Ronald</cp:lastModifiedBy>
  <cp:revision>3</cp:revision>
  <dcterms:created xsi:type="dcterms:W3CDTF">2026-05-05T19:00:15Z</dcterms:created>
  <dcterms:modified xsi:type="dcterms:W3CDTF">2026-05-06T06:48:12Z</dcterms:modified>
</cp:coreProperties>
</file>