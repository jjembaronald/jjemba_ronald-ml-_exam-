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66" r:id="rId4"/>
    <p:sldId id="267" r:id="rId5"/>
    <p:sldId id="268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>
        <p:scale>
          <a:sx n="40" d="100"/>
          <a:sy n="40" d="100"/>
        </p:scale>
        <p:origin x="44" y="448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00164-0487-4BE2-86C7-457FE2E92DF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6A68-2B7E-4042-8E83-83C87C0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3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00164-0487-4BE2-86C7-457FE2E92DF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6A68-2B7E-4042-8E83-83C87C0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30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00164-0487-4BE2-86C7-457FE2E92DF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6A68-2B7E-4042-8E83-83C87C0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655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00164-0487-4BE2-86C7-457FE2E92DF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6A68-2B7E-4042-8E83-83C87C0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480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00164-0487-4BE2-86C7-457FE2E92DF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6A68-2B7E-4042-8E83-83C87C0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990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00164-0487-4BE2-86C7-457FE2E92DF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6A68-2B7E-4042-8E83-83C87C0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678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00164-0487-4BE2-86C7-457FE2E92DF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6A68-2B7E-4042-8E83-83C87C0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80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00164-0487-4BE2-86C7-457FE2E92DF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6A68-2B7E-4042-8E83-83C87C0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457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00164-0487-4BE2-86C7-457FE2E92DF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6A68-2B7E-4042-8E83-83C87C0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6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00164-0487-4BE2-86C7-457FE2E92DF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6A68-2B7E-4042-8E83-83C87C0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28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00164-0487-4BE2-86C7-457FE2E92DF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6A68-2B7E-4042-8E83-83C87C0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464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00164-0487-4BE2-86C7-457FE2E92DF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6A68-2B7E-4042-8E83-83C87C020C1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7260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00164-0487-4BE2-86C7-457FE2E92DF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6A68-2B7E-4042-8E83-83C87C0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008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00164-0487-4BE2-86C7-457FE2E92DF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6A68-2B7E-4042-8E83-83C87C0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012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00164-0487-4BE2-86C7-457FE2E92DF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6A68-2B7E-4042-8E83-83C87C0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038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00164-0487-4BE2-86C7-457FE2E92DF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6A68-2B7E-4042-8E83-83C87C0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2061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00164-0487-4BE2-86C7-457FE2E92DF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6A68-2B7E-4042-8E83-83C87C0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61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6400164-0487-4BE2-86C7-457FE2E92DF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D6B6A68-2B7E-4042-8E83-83C87C0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7872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E80187D-F7CC-2C8B-7620-45EEBDB78F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914" y="185057"/>
            <a:ext cx="9144000" cy="2002971"/>
          </a:xfrm>
        </p:spPr>
        <p:txBody>
          <a:bodyPr>
            <a:noAutofit/>
          </a:bodyPr>
          <a:lstStyle/>
          <a:p>
            <a:r>
              <a:rPr lang="en-US" sz="4000" dirty="0">
                <a:latin typeface="Aptos Narrow" panose="020B0004020202020204" pitchFamily="34" charset="0"/>
              </a:rPr>
              <a:t>PART A: Data Preparation</a:t>
            </a:r>
            <a:br>
              <a:rPr lang="en-US" sz="4000" dirty="0">
                <a:latin typeface="Aptos Narrow" panose="020B0004020202020204" pitchFamily="34" charset="0"/>
              </a:rPr>
            </a:br>
            <a:r>
              <a:rPr lang="en-US" sz="4000">
                <a:latin typeface="Aptos Narrow" panose="020B0004020202020204" pitchFamily="34" charset="0"/>
              </a:rPr>
              <a:t>Loading and </a:t>
            </a:r>
            <a:r>
              <a:rPr lang="en-US" sz="4000" dirty="0">
                <a:latin typeface="Aptos Narrow" panose="020B0004020202020204" pitchFamily="34" charset="0"/>
              </a:rPr>
              <a:t>Cleaning Data</a:t>
            </a:r>
            <a:br>
              <a:rPr lang="en-US" sz="4000" b="1" dirty="0">
                <a:latin typeface="Aptos Narrow" panose="020B0004020202020204" pitchFamily="34" charset="0"/>
              </a:rPr>
            </a:br>
            <a:endParaRPr lang="en-US" sz="4000" b="1" dirty="0">
              <a:latin typeface="Aptos Narrow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599974-629C-83AB-F3F6-6CFF7A2CCA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143" y="1905001"/>
            <a:ext cx="11636828" cy="4550228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400" dirty="0">
                <a:latin typeface="Aptos Narrow" panose="020B0004020202020204" pitchFamily="34" charset="0"/>
              </a:rPr>
              <a:t>The dataset is loaded and inspected to understand its structure (features, data types, and sample records).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400" dirty="0">
                <a:latin typeface="Aptos Narrow" panose="020B0004020202020204" pitchFamily="34" charset="0"/>
              </a:rPr>
              <a:t>Checked for missing values across all columns and rows and the dataset had none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400" dirty="0">
                <a:latin typeface="Aptos Narrow" panose="020B0004020202020204" pitchFamily="34" charset="0"/>
              </a:rPr>
              <a:t>Converted </a:t>
            </a:r>
            <a:r>
              <a:rPr lang="en-US" sz="2400" dirty="0" err="1">
                <a:latin typeface="Aptos Narrow" panose="020B0004020202020204" pitchFamily="34" charset="0"/>
              </a:rPr>
              <a:t>TotalCharges</a:t>
            </a:r>
            <a:r>
              <a:rPr lang="en-US" sz="2400" dirty="0">
                <a:latin typeface="Aptos Narrow" panose="020B0004020202020204" pitchFamily="34" charset="0"/>
              </a:rPr>
              <a:t> column to numeric because it  contains mixed data types.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400" dirty="0">
                <a:latin typeface="Aptos Narrow" panose="020B0004020202020204" pitchFamily="34" charset="0"/>
              </a:rPr>
              <a:t>Rows with missing values are removed to ensure clean and reliable data for modeling. </a:t>
            </a:r>
          </a:p>
          <a:p>
            <a:pPr algn="l"/>
            <a:r>
              <a:rPr lang="en-US" sz="2400" b="1" dirty="0">
                <a:latin typeface="Aptos Narrow" panose="020B0004020202020204" pitchFamily="34" charset="0"/>
              </a:rPr>
              <a:t>Purpose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400" dirty="0">
                <a:latin typeface="Aptos Narrow" panose="020B0004020202020204" pitchFamily="34" charset="0"/>
              </a:rPr>
              <a:t>To ensure the dataset is consistent, complete and ready for analysis since Poor data quality would lead to inaccurate predictions.</a:t>
            </a:r>
          </a:p>
          <a:p>
            <a:pPr algn="l"/>
            <a:endParaRPr lang="en-US" sz="2400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250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E7F7B-72CE-4A07-F853-7F64D9859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Narrow" panose="020B0004020202020204" pitchFamily="34" charset="0"/>
              </a:rPr>
              <a:t>Encoding, Scaling and Splitting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68BCC-ED28-754B-3369-56C3C67CD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9487" y="1480457"/>
            <a:ext cx="5734806" cy="51816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Categorical variables encoded using One-Hot Encoding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Target variable (Churn) encoded separately using Label Encoding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Irrelevant feature </a:t>
            </a:r>
            <a:r>
              <a:rPr lang="en-US" sz="2400" dirty="0" err="1">
                <a:latin typeface="Aptos Narrow" panose="020B0004020202020204" pitchFamily="34" charset="0"/>
              </a:rPr>
              <a:t>customerID</a:t>
            </a:r>
            <a:r>
              <a:rPr lang="en-US" sz="2400" dirty="0">
                <a:latin typeface="Aptos Narrow" panose="020B0004020202020204" pitchFamily="34" charset="0"/>
              </a:rPr>
              <a:t> removed before encoding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Numerical features scaled using standardization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One-Hot Encoding increases dimensionality but improves model accuracy</a:t>
            </a:r>
          </a:p>
          <a:p>
            <a:endParaRPr lang="en-US" sz="2400" dirty="0">
              <a:latin typeface="Aptos Narrow" panose="020B00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5A4D5-CF8C-C490-EA31-50C769A33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2892" y="1480457"/>
            <a:ext cx="5734806" cy="529045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I scaled numerical features, tenure, </a:t>
            </a:r>
            <a:r>
              <a:rPr lang="en-US" sz="2400" dirty="0" err="1">
                <a:latin typeface="Aptos Narrow" panose="020B0004020202020204" pitchFamily="34" charset="0"/>
              </a:rPr>
              <a:t>MonthlyCharges</a:t>
            </a:r>
            <a:r>
              <a:rPr lang="en-US" sz="2400" dirty="0">
                <a:latin typeface="Aptos Narrow" panose="020B0004020202020204" pitchFamily="34" charset="0"/>
              </a:rPr>
              <a:t>, </a:t>
            </a:r>
            <a:r>
              <a:rPr lang="en-US" sz="2400" dirty="0" err="1">
                <a:latin typeface="Aptos Narrow" panose="020B0004020202020204" pitchFamily="34" charset="0"/>
              </a:rPr>
              <a:t>TotalCharges</a:t>
            </a:r>
            <a:r>
              <a:rPr lang="en-US" sz="2400" dirty="0">
                <a:latin typeface="Aptos Narrow" panose="020B0004020202020204" pitchFamily="34" charset="0"/>
              </a:rPr>
              <a:t> using standardization.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Split the dataset into 80% training and 20% testing. </a:t>
            </a:r>
          </a:p>
          <a:p>
            <a:pPr marL="0" indent="0">
              <a:buNone/>
            </a:pPr>
            <a:r>
              <a:rPr lang="en-US" sz="2400" b="1" dirty="0">
                <a:latin typeface="Aptos Narrow" panose="020B0004020202020204" pitchFamily="34" charset="0"/>
              </a:rPr>
              <a:t>Purpose:</a:t>
            </a:r>
            <a:endParaRPr lang="en-US" sz="2400" dirty="0">
              <a:latin typeface="Aptos Narrow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Encoding allows machine learning models to process categorical data.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Scaling ensures features contribute equally.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Splitting ensures fair evaluation on unseen data.</a:t>
            </a:r>
          </a:p>
          <a:p>
            <a:endParaRPr lang="en-US" sz="2400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85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E4B6C7-C7A5-A73B-56D7-09F074DDE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Aptos Narrow" panose="020B0004020202020204" pitchFamily="34" charset="0"/>
              </a:rPr>
              <a:t>PART B: Exploratory Data Analysis </a:t>
            </a:r>
            <a:br>
              <a:rPr lang="en-US" b="1" dirty="0">
                <a:latin typeface="Aptos Narrow" panose="020B0004020202020204" pitchFamily="34" charset="0"/>
              </a:rPr>
            </a:br>
            <a:r>
              <a:rPr lang="en-US" b="1" dirty="0">
                <a:latin typeface="Aptos Narrow" panose="020B0004020202020204" pitchFamily="34" charset="0"/>
              </a:rPr>
              <a:t>Visual Relationships and Correlation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0C62B88-AEC5-C05D-17BF-ECD2E37F7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429" y="1580050"/>
            <a:ext cx="5446787" cy="800088"/>
          </a:xfrm>
        </p:spPr>
        <p:txBody>
          <a:bodyPr/>
          <a:lstStyle/>
          <a:p>
            <a:r>
              <a:rPr lang="en-US" b="1" dirty="0">
                <a:latin typeface="Aptos Narrow" panose="020B0004020202020204" pitchFamily="34" charset="0"/>
              </a:rPr>
              <a:t>Scatter plots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D7F2BD-A301-66A9-39F4-C734C53ED1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Correlation Matrix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DF6844E0-9811-54C3-61E6-1EF13337F2C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 flipH="1">
            <a:off x="87084" y="2722275"/>
            <a:ext cx="5809947" cy="3741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Strong positive relationship between tenure and total charges </a:t>
            </a:r>
          </a:p>
          <a:p>
            <a:pPr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Strong positive relationship between monthly charges and total charges </a:t>
            </a:r>
          </a:p>
          <a:p>
            <a:pPr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Customers with high monthly charges and low tenure show higher churn (orange points more concentrated) </a:t>
            </a:r>
          </a:p>
          <a:p>
            <a:pPr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Customers with long tenure are mostly non-churners 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F9659DE0-107C-DB74-A152-D2C1270FD59C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294967" y="2722275"/>
            <a:ext cx="5308081" cy="3688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Strong positive correlation</a:t>
            </a:r>
          </a:p>
          <a:p>
            <a:pPr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Tenure ↔ Total Charges </a:t>
            </a:r>
          </a:p>
          <a:p>
            <a:pPr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Monthly Charges ↔ Total Charges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Moderate relationship: </a:t>
            </a:r>
          </a:p>
          <a:p>
            <a:pPr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Monthly Charges ↔ Churn (positive)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Negative correlation: </a:t>
            </a:r>
          </a:p>
          <a:p>
            <a:pPr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Tenure ↔ Churn (strong negative)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532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05B56-AA9A-26AA-8546-0DD197047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95" y="605168"/>
            <a:ext cx="4876344" cy="544884"/>
          </a:xfrm>
        </p:spPr>
        <p:txBody>
          <a:bodyPr/>
          <a:lstStyle/>
          <a:p>
            <a:r>
              <a:rPr lang="en-US" dirty="0"/>
              <a:t>Boxplots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73CF11-8AB2-E015-B5E7-ECC0A6560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7997" y="489800"/>
            <a:ext cx="4895330" cy="544883"/>
          </a:xfrm>
        </p:spPr>
        <p:txBody>
          <a:bodyPr/>
          <a:lstStyle/>
          <a:p>
            <a:r>
              <a:rPr lang="en-US" dirty="0"/>
              <a:t>Key Features &amp; Insights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07BC64-32DF-0E6E-3FDA-0587E711CA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2875" y="1150052"/>
            <a:ext cx="4895330" cy="5533777"/>
          </a:xfrm>
        </p:spPr>
        <p:txBody>
          <a:bodyPr>
            <a:noAutofit/>
          </a:bodyPr>
          <a:lstStyle/>
          <a:p>
            <a:pPr marL="36900" indent="0">
              <a:lnSpc>
                <a:spcPct val="150000"/>
              </a:lnSpc>
              <a:buNone/>
            </a:pPr>
            <a:r>
              <a:rPr lang="en-US" sz="2400" b="1" dirty="0">
                <a:latin typeface="Aptos Narrow" panose="020B0004020202020204" pitchFamily="34" charset="0"/>
              </a:rPr>
              <a:t>Important Features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Tenure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Monthly Charges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Total Charges </a:t>
            </a:r>
          </a:p>
          <a:p>
            <a:pPr marL="36900" indent="0">
              <a:lnSpc>
                <a:spcPct val="150000"/>
              </a:lnSpc>
              <a:buNone/>
            </a:pPr>
            <a:r>
              <a:rPr lang="en-US" sz="2400" b="1" dirty="0">
                <a:latin typeface="Aptos Narrow" panose="020B0004020202020204" pitchFamily="34" charset="0"/>
              </a:rPr>
              <a:t>Justification: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Strong correlations with churn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Clear separation in boxplots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Visible patterns in scatter plots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Aptos Narrow" panose="020B00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8601A1C-A9DB-E78D-2A88-F6BCDC7530B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17852" y="439803"/>
            <a:ext cx="5514202" cy="5902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Churned customers have: </a:t>
            </a:r>
          </a:p>
          <a:p>
            <a:pPr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Lower tenure (shorter stay) </a:t>
            </a:r>
          </a:p>
          <a:p>
            <a:pPr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Higher monthly charges (on average)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Non-churned customers: </a:t>
            </a:r>
          </a:p>
          <a:p>
            <a:pPr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Stay longer </a:t>
            </a:r>
          </a:p>
          <a:p>
            <a:pPr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Have more stable/lower monthly charges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967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E07A-2E63-76B2-5796-FB74E9139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Narrow" panose="020B0004020202020204" pitchFamily="34" charset="0"/>
              </a:rPr>
              <a:t>Key Insights and Impact 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C99CF-0DA7-4C4F-F358-2075CFF29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Customers with low tenure are high churn risk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High monthly charges increase churn likelihood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Features show clear patterns which implies that they are good for prediction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Some overlap exists  meaning not perfectly separable </a:t>
            </a:r>
          </a:p>
          <a:p>
            <a:pPr>
              <a:lnSpc>
                <a:spcPct val="200000"/>
              </a:lnSpc>
            </a:pPr>
            <a:endParaRPr lang="en-US" sz="2400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946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FD462-A2C2-9929-3499-E36405DFB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0"/>
            <a:ext cx="10515600" cy="1240972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Aptos Narrow" panose="020B0004020202020204" pitchFamily="34" charset="0"/>
              </a:rPr>
            </a:br>
            <a:r>
              <a:rPr lang="en-US" b="1" dirty="0">
                <a:latin typeface="Aptos Narrow" panose="020B0004020202020204" pitchFamily="34" charset="0"/>
              </a:rPr>
              <a:t>PART C: Model Training </a:t>
            </a:r>
            <a:br>
              <a:rPr lang="en-US" b="1" dirty="0">
                <a:latin typeface="Aptos Narrow" panose="020B0004020202020204" pitchFamily="34" charset="0"/>
              </a:rPr>
            </a:br>
            <a:r>
              <a:rPr lang="en-US" b="1" dirty="0">
                <a:latin typeface="Aptos Narrow" panose="020B0004020202020204" pitchFamily="34" charset="0"/>
              </a:rPr>
              <a:t>Individual Models</a:t>
            </a:r>
            <a:br>
              <a:rPr lang="en-US" b="1" dirty="0">
                <a:latin typeface="Aptos Narrow" panose="020B0004020202020204" pitchFamily="34" charset="0"/>
              </a:rPr>
            </a:b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0871A-7038-7817-306D-BBC7EF97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732449"/>
            <a:ext cx="11038957" cy="472278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Aptos Narrow" panose="020B0004020202020204" pitchFamily="34" charset="0"/>
              </a:rPr>
              <a:t>Multiple models are trained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Logistic Regression (baseline model) ,It </a:t>
            </a:r>
            <a:r>
              <a:rPr lang="en-US" sz="2400" dirty="0"/>
              <a:t>required increasing iterations (</a:t>
            </a:r>
            <a:r>
              <a:rPr lang="en-US" dirty="0" err="1"/>
              <a:t>max_iter</a:t>
            </a:r>
            <a:r>
              <a:rPr lang="en-US" dirty="0"/>
              <a:t>=1000</a:t>
            </a:r>
            <a:r>
              <a:rPr lang="en-US" sz="2400" dirty="0"/>
              <a:t>) to ensure convergence due to increased feature space from One-Hot Encoding</a:t>
            </a:r>
            <a:endParaRPr lang="en-US" sz="2400" dirty="0">
              <a:latin typeface="Aptos Narrow" panose="020B0004020202020204" pitchFamily="34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k-NN (with k=3 and k=7 to compare behavior)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Decision Tree (depth controlled to prevent overfitting)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Aptos Narrow" panose="020B0004020202020204" pitchFamily="34" charset="0"/>
              </a:rPr>
              <a:t>Purpose</a:t>
            </a:r>
          </a:p>
          <a:p>
            <a:pPr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To compare different algorithms and understand their performance and efficiency.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992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BCBC0-E656-C4F2-4968-F24AB627E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350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ptos Narrow" panose="020B0004020202020204" pitchFamily="34" charset="0"/>
              </a:rPr>
              <a:t>Model Comparison</a:t>
            </a:r>
            <a:br>
              <a:rPr lang="en-US" b="1" dirty="0">
                <a:latin typeface="Aptos Narrow" panose="020B0004020202020204" pitchFamily="34" charset="0"/>
              </a:rPr>
            </a:b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102F6-F6C5-6623-9E3C-3875381A7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43" y="1600200"/>
            <a:ext cx="10919214" cy="5018314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Aptos Narrow" panose="020B00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Aptos Narrow" panose="020B0004020202020204" pitchFamily="34" charset="0"/>
              </a:rPr>
              <a:t>Differences observed: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Aptos Narrow" panose="020B0004020202020204" pitchFamily="34" charset="0"/>
              </a:rPr>
              <a:t>k-NN varies depending on k (smaller k = more sensitive to noise).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Aptos Narrow" panose="020B0004020202020204" pitchFamily="34" charset="0"/>
              </a:rPr>
              <a:t>Decision Tree captures patterns but can overfit.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Aptos Narrow" panose="020B0004020202020204" pitchFamily="34" charset="0"/>
              </a:rPr>
              <a:t>Logistic Regression is more stable but simpler.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effectLst/>
                <a:latin typeface="Aptos Narrow" panose="020B0004020202020204" pitchFamily="34" charset="0"/>
              </a:rPr>
              <a:t>While models largely agree on clear stay/churn cases, divergence in samples like Index 4 justifies the use of Ensemble methods to reduce individual model bias.</a:t>
            </a:r>
            <a:endParaRPr lang="en-US" sz="2600" dirty="0">
              <a:latin typeface="Aptos Narrow" panose="020B00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Aptos Narrow" panose="020B0004020202020204" pitchFamily="34" charset="0"/>
              </a:rPr>
              <a:t>Purpose:</a:t>
            </a:r>
          </a:p>
          <a:p>
            <a:pPr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To evaluate how different models behave and choose the most reliable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Aptos Narrow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5886A1-E7EC-7767-2C3D-E9D9817B5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29" y="845814"/>
            <a:ext cx="4665342" cy="188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023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EB5F-6617-FED8-DBFD-07402EDE0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404256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Aptos Narrow" panose="020B0004020202020204" pitchFamily="34" charset="0"/>
              </a:rPr>
            </a:br>
            <a:r>
              <a:rPr lang="en-US" b="1" dirty="0">
                <a:latin typeface="Aptos Narrow" panose="020B0004020202020204" pitchFamily="34" charset="0"/>
              </a:rPr>
              <a:t>PART D:     Ensemble Learning </a:t>
            </a:r>
            <a:br>
              <a:rPr lang="en-US" b="1" dirty="0">
                <a:latin typeface="Aptos Narrow" panose="020B0004020202020204" pitchFamily="34" charset="0"/>
              </a:rPr>
            </a:br>
            <a:r>
              <a:rPr lang="en-US" b="1" dirty="0">
                <a:latin typeface="Aptos Narrow" panose="020B0004020202020204" pitchFamily="34" charset="0"/>
              </a:rPr>
              <a:t>Voting Methods</a:t>
            </a:r>
            <a:br>
              <a:rPr lang="en-US" b="1" dirty="0">
                <a:latin typeface="Aptos Narrow" panose="020B0004020202020204" pitchFamily="34" charset="0"/>
              </a:rPr>
            </a:b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B991D-96E3-8D05-0A7F-F41E1B88C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559494"/>
          </a:xfrm>
        </p:spPr>
        <p:txBody>
          <a:bodyPr>
            <a:normAutofit/>
          </a:bodyPr>
          <a:lstStyle/>
          <a:p>
            <a:pPr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Aptos Narrow" panose="020B0004020202020204" pitchFamily="34" charset="0"/>
              </a:rPr>
              <a:t>Hard Voting:</a:t>
            </a:r>
            <a:r>
              <a:rPr lang="en-US" sz="2400" dirty="0">
                <a:latin typeface="Aptos Narrow" panose="020B0004020202020204" pitchFamily="34" charset="0"/>
              </a:rPr>
              <a:t> final prediction is based on majority vote. </a:t>
            </a:r>
          </a:p>
          <a:p>
            <a:pPr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Aptos Narrow" panose="020B0004020202020204" pitchFamily="34" charset="0"/>
              </a:rPr>
              <a:t>Soft Voting:</a:t>
            </a:r>
            <a:r>
              <a:rPr lang="en-US" sz="2400" dirty="0">
                <a:latin typeface="Aptos Narrow" panose="020B0004020202020204" pitchFamily="34" charset="0"/>
              </a:rPr>
              <a:t> uses probability averages for more informed decisions.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latin typeface="Aptos Narrow" panose="020B0004020202020204" pitchFamily="34" charset="0"/>
              </a:rPr>
              <a:t>Differences between hard and soft voting are measured.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1" dirty="0">
                <a:latin typeface="Aptos Narrow" panose="020B0004020202020204" pitchFamily="34" charset="0"/>
              </a:rPr>
              <a:t>Purpose:</a:t>
            </a:r>
          </a:p>
          <a:p>
            <a:pPr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To combine strengths of multiple models and improve prediction accuracy.</a:t>
            </a:r>
          </a:p>
          <a:p>
            <a:pPr>
              <a:lnSpc>
                <a:spcPct val="200000"/>
              </a:lnSpc>
            </a:pPr>
            <a:endParaRPr lang="en-US" sz="2400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188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B8FCC-8A5D-AFC2-7EF6-EDCC7169C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Stacking and Comparison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9B372-B6CE-BB38-566F-23F9B4001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ptos Narrow" panose="020B0004020202020204" pitchFamily="34" charset="0"/>
              </a:rPr>
              <a:t>A </a:t>
            </a:r>
            <a:r>
              <a:rPr lang="en-US" sz="2400" b="1" dirty="0">
                <a:latin typeface="Aptos Narrow" panose="020B0004020202020204" pitchFamily="34" charset="0"/>
              </a:rPr>
              <a:t>stacking model</a:t>
            </a:r>
            <a:r>
              <a:rPr lang="en-US" sz="2400" dirty="0">
                <a:latin typeface="Aptos Narrow" panose="020B0004020202020204" pitchFamily="34" charset="0"/>
              </a:rPr>
              <a:t> is built;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Base models: Logistic Regression + k-NN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Meta-model: Logistic Regression </a:t>
            </a:r>
          </a:p>
          <a:p>
            <a:pPr marL="0" indent="0">
              <a:buNone/>
            </a:pPr>
            <a:r>
              <a:rPr lang="en-US" sz="2400" dirty="0">
                <a:latin typeface="Aptos Narrow" panose="020B0004020202020204" pitchFamily="34" charset="0"/>
              </a:rPr>
              <a:t>Ensemble models are compared with individual models. </a:t>
            </a:r>
          </a:p>
          <a:p>
            <a:pPr marL="0" indent="0">
              <a:buNone/>
            </a:pPr>
            <a:r>
              <a:rPr lang="en-US" sz="2400" b="1" dirty="0">
                <a:latin typeface="Aptos Narrow" panose="020B0004020202020204" pitchFamily="34" charset="0"/>
              </a:rPr>
              <a:t>Insights:</a:t>
            </a:r>
            <a:endParaRPr lang="en-US" sz="2400" dirty="0">
              <a:latin typeface="Aptos Narrow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Ensemble methods generally improve accuracy.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Stacking provides more flexibility by learning how to combine models. </a:t>
            </a:r>
          </a:p>
          <a:p>
            <a:pPr marL="0" indent="0">
              <a:buNone/>
            </a:pPr>
            <a:r>
              <a:rPr lang="en-US" sz="2400" b="1" dirty="0">
                <a:latin typeface="Aptos Narrow" panose="020B0004020202020204" pitchFamily="34" charset="0"/>
              </a:rPr>
              <a:t>Purpose:</a:t>
            </a:r>
            <a:br>
              <a:rPr lang="en-US" sz="2400" dirty="0">
                <a:latin typeface="Aptos Narrow" panose="020B0004020202020204" pitchFamily="34" charset="0"/>
              </a:rPr>
            </a:br>
            <a:r>
              <a:rPr lang="en-US" sz="2400" dirty="0">
                <a:latin typeface="Aptos Narrow" panose="020B0004020202020204" pitchFamily="34" charset="0"/>
              </a:rPr>
              <a:t>To achieve better performance than single models.</a:t>
            </a:r>
          </a:p>
          <a:p>
            <a:endParaRPr lang="en-US" sz="2400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117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A2015-BB92-B30B-96D9-4D146DDC8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639"/>
            <a:ext cx="10515600" cy="1343932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Aptos Narrow" panose="020B0004020202020204" pitchFamily="34" charset="0"/>
              </a:rPr>
            </a:br>
            <a:r>
              <a:rPr lang="en-US" b="1" dirty="0">
                <a:latin typeface="Aptos Narrow" panose="020B0004020202020204" pitchFamily="34" charset="0"/>
              </a:rPr>
              <a:t>PART E:   Evaluation and Error Analysis.</a:t>
            </a:r>
            <a:br>
              <a:rPr lang="en-US" b="1" dirty="0">
                <a:latin typeface="Aptos Narrow" panose="020B0004020202020204" pitchFamily="34" charset="0"/>
              </a:rPr>
            </a:br>
            <a:r>
              <a:rPr lang="en-US" b="1" dirty="0">
                <a:latin typeface="Aptos Narrow" panose="020B0004020202020204" pitchFamily="34" charset="0"/>
              </a:rPr>
              <a:t>Performance Metrics</a:t>
            </a:r>
            <a:br>
              <a:rPr lang="en-US" b="1" dirty="0">
                <a:latin typeface="Aptos Narrow" panose="020B0004020202020204" pitchFamily="34" charset="0"/>
              </a:rPr>
            </a:b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EBFCD-71C1-98DF-B64F-73F66882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86" y="1732449"/>
            <a:ext cx="11615057" cy="47010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ptos Narrow" panose="020B0004020202020204" pitchFamily="34" charset="0"/>
              </a:rPr>
              <a:t>Evaluated models using: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Accuracy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Precision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Recall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F1-score </a:t>
            </a:r>
          </a:p>
          <a:p>
            <a:pPr marL="0" indent="0">
              <a:buNone/>
            </a:pPr>
            <a:r>
              <a:rPr lang="en-US" sz="2400" dirty="0">
                <a:latin typeface="Aptos Narrow" panose="020B0004020202020204" pitchFamily="34" charset="0"/>
              </a:rPr>
              <a:t>Results are presented in a comparison table. </a:t>
            </a:r>
          </a:p>
          <a:p>
            <a:pPr marL="0" indent="0">
              <a:buNone/>
            </a:pPr>
            <a:r>
              <a:rPr lang="en-US" sz="2400" b="1" dirty="0">
                <a:latin typeface="Aptos Narrow" panose="020B0004020202020204" pitchFamily="34" charset="0"/>
              </a:rPr>
              <a:t>Purpose:</a:t>
            </a:r>
          </a:p>
          <a:p>
            <a:pPr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To measure model performance from multiple perspectives, not just accuracy.</a:t>
            </a:r>
          </a:p>
          <a:p>
            <a:endParaRPr lang="en-US" sz="2400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73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1CA5E-E1DF-8C55-607A-A3109FB60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Confusion Matrix and ROC Curve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8FF39-9443-1ED6-68BB-4E366AF6C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0" y="1732449"/>
            <a:ext cx="11560629" cy="4788094"/>
          </a:xfrm>
        </p:spPr>
        <p:txBody>
          <a:bodyPr>
            <a:noAutofit/>
          </a:bodyPr>
          <a:lstStyle/>
          <a:p>
            <a:pPr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Confusion matrix shows  correct vs incorrect predictions </a:t>
            </a:r>
          </a:p>
          <a:p>
            <a:pPr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ROC curve compares model performance across thresholds. </a:t>
            </a:r>
          </a:p>
          <a:p>
            <a:pPr marL="0" indent="0">
              <a:buNone/>
            </a:pPr>
            <a:r>
              <a:rPr lang="en-US" sz="2400" b="1" dirty="0">
                <a:latin typeface="Aptos Narrow" panose="020B0004020202020204" pitchFamily="34" charset="0"/>
              </a:rPr>
              <a:t>Key Observation:</a:t>
            </a:r>
            <a:endParaRPr lang="en-US" sz="2400" dirty="0">
              <a:latin typeface="Aptos Narrow" panose="020B0004020202020204" pitchFamily="34" charset="0"/>
            </a:endParaRPr>
          </a:p>
          <a:p>
            <a:pPr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Some models may struggle to correctly identify churn cases (false negatives). </a:t>
            </a:r>
          </a:p>
          <a:p>
            <a:pPr marL="0" indent="0">
              <a:buNone/>
            </a:pPr>
            <a:r>
              <a:rPr lang="en-US" sz="2400" b="1" dirty="0">
                <a:latin typeface="Aptos Narrow" panose="020B0004020202020204" pitchFamily="34" charset="0"/>
              </a:rPr>
              <a:t>Error Pattern:</a:t>
            </a:r>
            <a:endParaRPr lang="en-US" sz="2400" dirty="0">
              <a:latin typeface="Aptos Narrow" panose="020B0004020202020204" pitchFamily="34" charset="0"/>
            </a:endParaRPr>
          </a:p>
          <a:p>
            <a:pPr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Customers with similar features  are harder to classify. </a:t>
            </a:r>
          </a:p>
          <a:p>
            <a:pPr marL="0" indent="0">
              <a:buNone/>
            </a:pPr>
            <a:r>
              <a:rPr lang="en-US" sz="2400" b="1" dirty="0">
                <a:latin typeface="Aptos Narrow" panose="020B0004020202020204" pitchFamily="34" charset="0"/>
              </a:rPr>
              <a:t>Purpose:</a:t>
            </a:r>
          </a:p>
          <a:p>
            <a:pPr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ptos Narrow" panose="020B0004020202020204" pitchFamily="34" charset="0"/>
              </a:rPr>
              <a:t>To understand where the model makes mistakes and why.</a:t>
            </a:r>
          </a:p>
          <a:p>
            <a:endParaRPr lang="en-US" sz="2400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4964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288</TotalTime>
  <Words>742</Words>
  <Application>Microsoft Office PowerPoint</Application>
  <PresentationFormat>Widescreen</PresentationFormat>
  <Paragraphs>104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 Narrow</vt:lpstr>
      <vt:lpstr>Arial</vt:lpstr>
      <vt:lpstr>Calisto MT</vt:lpstr>
      <vt:lpstr>Wingdings</vt:lpstr>
      <vt:lpstr>Wingdings 2</vt:lpstr>
      <vt:lpstr>Slate</vt:lpstr>
      <vt:lpstr>PART A: Data Preparation Loading and Cleaning Data </vt:lpstr>
      <vt:lpstr>Encoding, Scaling and Splitting</vt:lpstr>
      <vt:lpstr>PART B: Exploratory Data Analysis  Visual Relationships and Correlation</vt:lpstr>
      <vt:lpstr>PowerPoint Presentation</vt:lpstr>
      <vt:lpstr>Key Insights and Impact on Model</vt:lpstr>
      <vt:lpstr> PART C: Model Training  Individual Models </vt:lpstr>
      <vt:lpstr>Model Comparison </vt:lpstr>
      <vt:lpstr> PART D:     Ensemble Learning  Voting Methods </vt:lpstr>
      <vt:lpstr>Stacking and Comparison </vt:lpstr>
      <vt:lpstr> PART E:   Evaluation and Error Analysis. Performance Metrics </vt:lpstr>
      <vt:lpstr>Confusion Matrix and ROC Curve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Ronald</dc:creator>
  <cp:lastModifiedBy>Prince Ronald</cp:lastModifiedBy>
  <cp:revision>4</cp:revision>
  <dcterms:created xsi:type="dcterms:W3CDTF">2026-05-05T16:28:29Z</dcterms:created>
  <dcterms:modified xsi:type="dcterms:W3CDTF">2026-05-06T07:34:20Z</dcterms:modified>
</cp:coreProperties>
</file>